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the CEO a working mental model of MES before the project review.
1. Definition — MES runs the shop floor in real time.
2. The stack — ERP plans, MES executes and proves, PLC/SCADA physically acts. MES is the translation layer; data flows down as instructions and back up as confirmed reality.
3. Four verbs — Identify, Guide, Prevent, Record. 'Prevent' is the one that changes behaviour on the floor (poka-yoke).
4. Business case — quality at source, traceability for recall, cost visibility against BOM, automatic audit trail.
5. Boundary — MES is not ERP and not SCADA. Expect this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Execution System — the essentials, before we review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11274552" cy="530352"/>
          </a:xfrm>
          <a:prstGeom prst="roundRect">
            <a:avLst>
              <a:gd name="adj" fmla="val 10345"/>
            </a:avLst>
          </a:prstGeom>
          <a:solidFill>
            <a:srgbClr val="F2F3F8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5214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buNone/>
            </a:pPr>
            <a:r>
              <a:rPr lang="en-US" sz="13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runs the shop floor in real time — it tells each operator exactly what to do, stops them doing it wrong, and records what actually happened.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6537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139696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29968" y="2139696"/>
            <a:ext cx="4782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work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make, how much, by when — orders, BOM and material master.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6537960" cy="694944"/>
          </a:xfrm>
          <a:prstGeom prst="roundRect">
            <a:avLst>
              <a:gd name="adj" fmla="val 6579"/>
            </a:avLst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99923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29968" y="2999232"/>
            <a:ext cx="4782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C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proves the work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operator, validates every material and lot, records what actually happened.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6537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858768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/ SCADA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29968" y="3858768"/>
            <a:ext cx="4782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work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Feeders, mixers, scanners and printers physically executing on the floor.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29968" y="2852928"/>
            <a:ext cx="47823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orders, BOM, material master</a:t>
            </a:r>
            <a:pPr indent="0" marL="0">
              <a:buNone/>
            </a:pPr>
            <a:r>
              <a:rPr lang="en-US" sz="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▲ consumption, production confirmation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29968" y="3712464"/>
            <a:ext cx="47823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instructions, interlocks</a:t>
            </a:r>
            <a:pPr indent="0" marL="0">
              <a:buNone/>
            </a:pPr>
            <a:r>
              <a:rPr lang="en-US" sz="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▲ signals, tags, actual events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0" y="1828800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MES does, every shift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2203704"/>
            <a:ext cx="310896" cy="310896"/>
          </a:xfrm>
          <a:prstGeom prst="ellipse">
            <a:avLst/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35824" y="2139696"/>
            <a:ext cx="399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lot gets a QR code the moment it is booked in.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0" y="2843784"/>
            <a:ext cx="310896" cy="310896"/>
          </a:xfrm>
          <a:prstGeom prst="ellipse">
            <a:avLst/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35824" y="2779776"/>
            <a:ext cx="399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operator which material, which feeder, how much.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3483864"/>
            <a:ext cx="310896" cy="310896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35824" y="3419856"/>
            <a:ext cx="399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wrong material before it enters the mix, and locks the machine.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4123944"/>
            <a:ext cx="310896" cy="310896"/>
          </a:xfrm>
          <a:prstGeom prst="ellipse">
            <a:avLst/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35824" y="4059936"/>
            <a:ext cx="399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every batch back to the exact input lots that made it.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645152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the business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937760"/>
            <a:ext cx="2667762" cy="1060704"/>
          </a:xfrm>
          <a:prstGeom prst="roundRect">
            <a:avLst>
              <a:gd name="adj" fmla="val 4310"/>
            </a:avLst>
          </a:prstGeom>
          <a:solidFill>
            <a:srgbClr val="F2F3F8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5047488"/>
            <a:ext cx="2375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03504" y="528523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material is stopped at the feeder, not discovered later in the lab.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26130" y="4937760"/>
            <a:ext cx="2667762" cy="1060704"/>
          </a:xfrm>
          <a:prstGeom prst="roundRect">
            <a:avLst>
              <a:gd name="adj" fmla="val 4310"/>
            </a:avLst>
          </a:prstGeom>
          <a:solidFill>
            <a:srgbClr val="F2F3F8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2434" y="5047488"/>
            <a:ext cx="2375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472434" y="528523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batch genealogy in seconds — a recall narrows from a month of output to one lot.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5060" y="4937760"/>
            <a:ext cx="2667762" cy="1060704"/>
          </a:xfrm>
          <a:prstGeom prst="roundRect">
            <a:avLst>
              <a:gd name="adj" fmla="val 4310"/>
            </a:avLst>
          </a:prstGeom>
          <a:solidFill>
            <a:srgbClr val="F2F3F8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1364" y="5047488"/>
            <a:ext cx="2375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41364" y="528523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consumption measured against BOM, making give-away and losses visible.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63990" y="4937760"/>
            <a:ext cx="2667762" cy="1060704"/>
          </a:xfrm>
          <a:prstGeom prst="roundRect">
            <a:avLst>
              <a:gd name="adj" fmla="val 4310"/>
            </a:avLst>
          </a:prstGeom>
          <a:solidFill>
            <a:srgbClr val="F2F3F8"/>
          </a:solidFill>
          <a:ln w="12700">
            <a:solidFill>
              <a:srgbClr val="D4D7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10294" y="5047488"/>
            <a:ext cx="2375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10294" y="5285232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captured automatically as work happens, not reconstructed later.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144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is not ERP </a:t>
            </a:r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does not plan) </a:t>
            </a:r>
            <a:pPr indent="0" marL="0">
              <a:buNone/>
            </a:pPr>
            <a:r>
              <a:rPr lang="en-US" sz="9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 SCADA </a:t>
            </a:r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does not control machines) — it is the layer in between.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63840" y="6144768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scope: 33 stations across 8 areas,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booking through to mixer batch off.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2026-08-20T15:34:06Z</dcterms:created>
  <dcterms:modified xsi:type="dcterms:W3CDTF">2026-08-20T15:34:06Z</dcterms:modified>
</cp:coreProperties>
</file>